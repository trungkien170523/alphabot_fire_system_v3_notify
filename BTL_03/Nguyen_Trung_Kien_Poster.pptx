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38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3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 showGuides="1">
      <p:cViewPr>
        <p:scale>
          <a:sx n="125" d="100"/>
          <a:sy n="125" d="100"/>
        </p:scale>
        <p:origin x="1066" y="-3293"/>
      </p:cViewPr>
      <p:guideLst>
        <p:guide orient="horz" pos="3138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/>
          <p:cNvGrpSpPr/>
          <p:nvPr/>
        </p:nvGrpSpPr>
        <p:grpSpPr>
          <a:xfrm>
            <a:off x="6009740" y="1966271"/>
            <a:ext cx="683266" cy="212921"/>
            <a:chOff x="6071533" y="2181217"/>
            <a:chExt cx="683266" cy="215444"/>
          </a:xfrm>
        </p:grpSpPr>
        <p:sp>
          <p:nvSpPr>
            <p:cNvPr id="43" name="TextBox 42"/>
            <p:cNvSpPr txBox="1"/>
            <p:nvPr/>
          </p:nvSpPr>
          <p:spPr>
            <a:xfrm>
              <a:off x="6105590" y="2181217"/>
              <a:ext cx="649209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800" b="1" dirty="0" err="1">
                  <a:latin typeface="Arial Hebrew Scholar" pitchFamily="2" charset="-79"/>
                  <a:cs typeface="Arial Hebrew Scholar" pitchFamily="2" charset="-79"/>
                </a:rPr>
                <a:t>Github</a:t>
              </a:r>
              <a:endParaRPr lang="en-US" sz="800" b="1" dirty="0">
                <a:latin typeface="Arial Hebrew Scholar" pitchFamily="2" charset="-79"/>
                <a:cs typeface="Arial Hebrew Scholar" pitchFamily="2" charset="-79"/>
              </a:endParaRPr>
            </a:p>
          </p:txBody>
        </p:sp>
        <p:pic>
          <p:nvPicPr>
            <p:cNvPr id="1028" name="Picture 4" descr="Github Logo - Free social media icons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 flipV="1">
              <a:off x="6071533" y="2197843"/>
              <a:ext cx="166522" cy="1665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71979" y="2356347"/>
          <a:ext cx="3890421" cy="1432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04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209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Giới thiệu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9456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vi-VN" sz="900" dirty="0">
                          <a:effectLst/>
                        </a:rPr>
                        <a:t>Blockchain trong hệ thống được sử dụng để lưu lịch sử cảnh báo cháy. Mỗi sự kiện phát hiện cháy sẽ tạo ra:</a:t>
                      </a:r>
                      <a:br>
                        <a:rPr lang="vi-VN" sz="900" dirty="0">
                          <a:effectLst/>
                        </a:rPr>
                      </a:br>
                      <a:r>
                        <a:rPr lang="vi-VN" sz="900" dirty="0">
                          <a:effectLst/>
                        </a:rPr>
                        <a:t>+ Một block mới chứa thời gian.</a:t>
                      </a:r>
                      <a:br>
                        <a:rPr lang="vi-VN" sz="900" dirty="0">
                          <a:effectLst/>
                        </a:rPr>
                      </a:br>
                      <a:r>
                        <a:rPr lang="vi-VN" sz="900" dirty="0">
                          <a:effectLst/>
                        </a:rPr>
                        <a:t>+ Mức nguy hiểm.</a:t>
                      </a:r>
                      <a:br>
                        <a:rPr lang="vi-VN" sz="900" dirty="0">
                          <a:effectLst/>
                        </a:rPr>
                      </a:br>
                      <a:r>
                        <a:rPr lang="vi-VN" sz="900" dirty="0">
                          <a:effectLst/>
                        </a:rPr>
                        <a:t>+ Lệnh robot và dữ liệu cảnh báo. </a:t>
                      </a:r>
                      <a:br>
                        <a:rPr lang="vi-VN" sz="900" dirty="0">
                          <a:effectLst/>
                        </a:rPr>
                      </a:br>
                      <a:r>
                        <a:rPr lang="vi-VN" sz="900" dirty="0">
                          <a:effectLst/>
                        </a:rPr>
                        <a:t>Các block liên kết với nhau bằng mã băm SHA-256 nhằm đảm bảo tính toàn vẹn dữ liệu và hỗ trợ truy vết lịch sử cảnh báo.</a:t>
                      </a:r>
                      <a:br>
                        <a:rPr lang="vi-VN" sz="13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lang="en-US" altLang="en-US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027952" y="2360409"/>
          <a:ext cx="2789416" cy="22896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4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2445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Kiến trúc hệ thống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719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70" name="Group 69"/>
          <p:cNvGrpSpPr/>
          <p:nvPr/>
        </p:nvGrpSpPr>
        <p:grpSpPr>
          <a:xfrm>
            <a:off x="0" y="-39866"/>
            <a:ext cx="6858000" cy="2289646"/>
            <a:chOff x="0" y="-40063"/>
            <a:chExt cx="6858000" cy="2289646"/>
          </a:xfrm>
        </p:grpSpPr>
        <p:grpSp>
          <p:nvGrpSpPr>
            <p:cNvPr id="27" name="Group 26"/>
            <p:cNvGrpSpPr/>
            <p:nvPr/>
          </p:nvGrpSpPr>
          <p:grpSpPr>
            <a:xfrm>
              <a:off x="0" y="-40063"/>
              <a:ext cx="6858000" cy="1149907"/>
              <a:chOff x="0" y="-40063"/>
              <a:chExt cx="6858000" cy="1149907"/>
            </a:xfrm>
          </p:grpSpPr>
          <p:pic>
            <p:nvPicPr>
              <p:cNvPr id="39" name="Picture 38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-1275"/>
                <a:ext cx="6858000" cy="1111119"/>
              </a:xfrm>
              <a:prstGeom prst="rect">
                <a:avLst/>
              </a:prstGeom>
            </p:spPr>
          </p:pic>
          <p:sp>
            <p:nvSpPr>
              <p:cNvPr id="40" name="TextBox 39"/>
              <p:cNvSpPr txBox="1"/>
              <p:nvPr/>
            </p:nvSpPr>
            <p:spPr>
              <a:xfrm>
                <a:off x="2370087" y="-40063"/>
                <a:ext cx="21291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b="1">
                    <a:solidFill>
                      <a:schemeClr val="bg1"/>
                    </a:solidFill>
                    <a:latin typeface="Arial Hebrew Scholar" pitchFamily="2" charset="-79"/>
                    <a:cs typeface="Arial Hebrew Scholar" pitchFamily="2" charset="-79"/>
                  </a:rPr>
                  <a:t>TRƯỜNG ĐẠI HỌC ĐẠI NAM</a:t>
                </a:r>
              </a:p>
              <a:p>
                <a:pPr algn="ctr"/>
                <a:r>
                  <a:rPr lang="en-US" sz="1000" b="1">
                    <a:solidFill>
                      <a:schemeClr val="bg1"/>
                    </a:solidFill>
                    <a:latin typeface="Arial Hebrew Scholar" pitchFamily="2" charset="-79"/>
                    <a:cs typeface="Arial Hebrew Scholar" pitchFamily="2" charset="-79"/>
                  </a:rPr>
                  <a:t>KHOA CÔNG NGHỆ THÔNG TIN</a:t>
                </a:r>
              </a:p>
            </p:txBody>
          </p:sp>
        </p:grpSp>
        <p:grpSp>
          <p:nvGrpSpPr>
            <p:cNvPr id="65" name="Group 64"/>
            <p:cNvGrpSpPr/>
            <p:nvPr/>
          </p:nvGrpSpPr>
          <p:grpSpPr>
            <a:xfrm>
              <a:off x="0" y="1082578"/>
              <a:ext cx="6858000" cy="1167005"/>
              <a:chOff x="0" y="1082578"/>
              <a:chExt cx="6858000" cy="1167005"/>
            </a:xfrm>
          </p:grpSpPr>
          <p:sp>
            <p:nvSpPr>
              <p:cNvPr id="5" name="Title 1"/>
              <p:cNvSpPr txBox="1"/>
              <p:nvPr/>
            </p:nvSpPr>
            <p:spPr>
              <a:xfrm>
                <a:off x="0" y="1082578"/>
                <a:ext cx="6765928" cy="329891"/>
              </a:xfrm>
              <a:prstGeom prst="rect">
                <a:avLst/>
              </a:prstGeom>
            </p:spPr>
            <p:txBody>
              <a:bodyPr vert="horz" lIns="20299" tIns="10150" rIns="20299" bIns="10150" rtlCol="0" anchor="ctr">
                <a:noAutofit/>
              </a:bodyPr>
              <a:lstStyle>
                <a:lvl1pPr algn="ctr" defTabSz="288036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189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vi-VN" sz="1200" b="1" dirty="0">
                    <a:solidFill>
                      <a:schemeClr val="accent2"/>
                    </a:solidFill>
                    <a:latin typeface="Arial Hebrew Scholar" pitchFamily="2" charset="-79"/>
                    <a:cs typeface="Arial Hebrew Scholar" pitchFamily="2" charset="-79"/>
                  </a:rPr>
                  <a:t>BLOCK CHAIN TRONG HỆ THỐNG BÁO CHÁY CỦA XE ALPHA BOT</a:t>
                </a:r>
                <a:endParaRPr lang="en-US" sz="1200" b="1" dirty="0">
                  <a:solidFill>
                    <a:schemeClr val="accent2"/>
                  </a:solidFill>
                  <a:latin typeface="Arial Hebrew Scholar" pitchFamily="2" charset="-79"/>
                  <a:cs typeface="Arial Hebrew Scholar" pitchFamily="2" charset="-79"/>
                </a:endParaRPr>
              </a:p>
            </p:txBody>
          </p:sp>
          <p:sp>
            <p:nvSpPr>
              <p:cNvPr id="6" name="Rectangle 5"/>
              <p:cNvSpPr/>
              <p:nvPr/>
            </p:nvSpPr>
            <p:spPr>
              <a:xfrm>
                <a:off x="0" y="1337994"/>
                <a:ext cx="6858000" cy="14559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vi-VN" sz="800" dirty="0"/>
                  <a:t>Nguyễn Trung Kiên</a:t>
                </a:r>
                <a:endParaRPr lang="en-US" sz="800" dirty="0"/>
              </a:p>
            </p:txBody>
          </p:sp>
          <p:pic>
            <p:nvPicPr>
              <p:cNvPr id="63" name="Picture 62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20895" y="1512206"/>
                <a:ext cx="1616210" cy="737377"/>
              </a:xfrm>
              <a:prstGeom prst="rect">
                <a:avLst/>
              </a:prstGeom>
            </p:spPr>
          </p:pic>
        </p:grpSp>
      </p:grpSp>
      <p:graphicFrame>
        <p:nvGraphicFramePr>
          <p:cNvPr id="73" name="Table 72"/>
          <p:cNvGraphicFramePr>
            <a:graphicFrameLocks noGrp="1"/>
          </p:cNvGraphicFramePr>
          <p:nvPr/>
        </p:nvGraphicFramePr>
        <p:xfrm>
          <a:off x="4027952" y="4670365"/>
          <a:ext cx="2789415" cy="1926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5726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Công nghệ sử dụng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0284">
                <a:tc>
                  <a:txBody>
                    <a:bodyPr/>
                    <a:lstStyle/>
                    <a:p>
                      <a:pPr algn="just"/>
                      <a:endParaRPr lang="vi-VN" sz="900">
                        <a:latin typeface="Arial" panose="020B0604020202020204" pitchFamily="34" charset="0"/>
                        <a:cs typeface="Arial Hebrew Scholar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2" name="Table 81"/>
          <p:cNvGraphicFramePr>
            <a:graphicFrameLocks noGrp="1"/>
          </p:cNvGraphicFramePr>
          <p:nvPr/>
        </p:nvGraphicFramePr>
        <p:xfrm>
          <a:off x="71978" y="3712464"/>
          <a:ext cx="3890421" cy="61372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04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7146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Giao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diện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ứng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dụng</a:t>
                      </a:r>
                      <a:endParaRPr lang="en-US" sz="10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90128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10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9" name="Table 88"/>
          <p:cNvGraphicFramePr>
            <a:graphicFrameLocks noGrp="1"/>
          </p:cNvGraphicFramePr>
          <p:nvPr/>
        </p:nvGraphicFramePr>
        <p:xfrm>
          <a:off x="4027951" y="6619313"/>
          <a:ext cx="2789417" cy="14261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4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46514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Platform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234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0" name="Table 89"/>
          <p:cNvGraphicFramePr>
            <a:graphicFrameLocks noGrp="1"/>
          </p:cNvGraphicFramePr>
          <p:nvPr/>
        </p:nvGraphicFramePr>
        <p:xfrm>
          <a:off x="4027950" y="8068432"/>
          <a:ext cx="2789417" cy="14261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4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46514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Hướng phát triển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2341">
                <a:tc>
                  <a:txBody>
                    <a:bodyPr/>
                    <a:lstStyle/>
                    <a:p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Phát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triển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thêm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các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chức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năng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</a:t>
                      </a:r>
                    </a:p>
                    <a:p>
                      <a:pPr marL="346075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Nâng cấp AI phát hiện lửa/khói chính xác hơn.</a:t>
                      </a:r>
                    </a:p>
                    <a:p>
                      <a:pPr marL="346075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Thêm cảm biến nhiệt, gas </a:t>
                      </a:r>
                      <a:r>
                        <a:rPr lang="" alt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</a:t>
                      </a:r>
                      <a:r>
                        <a:rPr lang="en-US" alt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ể t</a:t>
                      </a:r>
                      <a:r>
                        <a:rPr lang="" alt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ă</a:t>
                      </a:r>
                      <a:r>
                        <a:rPr lang="en-US" alt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ng </a:t>
                      </a:r>
                      <a:r>
                        <a:rPr lang="" alt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</a:t>
                      </a:r>
                      <a:r>
                        <a:rPr lang="en-US" alt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ộ tin cậy</a:t>
                      </a:r>
                    </a:p>
                    <a:p>
                      <a:pPr marL="346075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Cải thiện dashboard realtime, hỗ trợ mobile.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2" name="TextBox 91"/>
          <p:cNvSpPr txBox="1"/>
          <p:nvPr/>
        </p:nvSpPr>
        <p:spPr>
          <a:xfrm>
            <a:off x="3943438" y="9586860"/>
            <a:ext cx="295843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50" dirty="0">
                <a:latin typeface="Arial" panose="020B0604020202020204" pitchFamily="34" charset="0"/>
                <a:cs typeface="Arial Hebrew Scholar"/>
              </a:rPr>
              <a:t>©</a:t>
            </a:r>
            <a:r>
              <a:rPr lang="en-US" sz="750" dirty="0" err="1">
                <a:latin typeface="Arial" panose="020B0604020202020204" pitchFamily="34" charset="0"/>
                <a:cs typeface="Arial Hebrew Scholar"/>
              </a:rPr>
              <a:t>AIoTLab</a:t>
            </a:r>
            <a:r>
              <a:rPr lang="en-US" sz="750" dirty="0">
                <a:latin typeface="Arial" panose="020B0604020202020204" pitchFamily="34" charset="0"/>
                <a:cs typeface="Arial Hebrew Scholar"/>
              </a:rPr>
              <a:t>, Faculty of Information Technology, </a:t>
            </a:r>
            <a:r>
              <a:rPr lang="en-US" sz="750" dirty="0" err="1">
                <a:latin typeface="Arial" panose="020B0604020202020204" pitchFamily="34" charset="0"/>
                <a:cs typeface="Arial Hebrew Scholar"/>
              </a:rPr>
              <a:t>DaiNam</a:t>
            </a:r>
            <a:r>
              <a:rPr lang="en-US" sz="750" dirty="0">
                <a:latin typeface="Arial" panose="020B0604020202020204" pitchFamily="34" charset="0"/>
                <a:cs typeface="Arial Hebrew Scholar"/>
              </a:rPr>
              <a:t> University</a:t>
            </a:r>
          </a:p>
        </p:txBody>
      </p:sp>
      <p:grpSp>
        <p:nvGrpSpPr>
          <p:cNvPr id="1024" name="Group 1023"/>
          <p:cNvGrpSpPr/>
          <p:nvPr/>
        </p:nvGrpSpPr>
        <p:grpSpPr>
          <a:xfrm>
            <a:off x="4535229" y="7599157"/>
            <a:ext cx="683266" cy="362763"/>
            <a:chOff x="6071533" y="2197843"/>
            <a:chExt cx="683266" cy="367061"/>
          </a:xfrm>
        </p:grpSpPr>
        <p:sp>
          <p:nvSpPr>
            <p:cNvPr id="1025" name="TextBox 1024"/>
            <p:cNvSpPr txBox="1"/>
            <p:nvPr/>
          </p:nvSpPr>
          <p:spPr>
            <a:xfrm>
              <a:off x="6105590" y="2222338"/>
              <a:ext cx="649209" cy="3425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800" b="1">
                  <a:latin typeface="Arial Hebrew Scholar" pitchFamily="2" charset="-79"/>
                  <a:cs typeface="Arial Hebrew Scholar" pitchFamily="2" charset="-79"/>
                </a:rPr>
                <a:t>Github Platform</a:t>
              </a:r>
              <a:endParaRPr lang="en-US" sz="800" b="1" dirty="0">
                <a:latin typeface="Arial Hebrew Scholar" pitchFamily="2" charset="-79"/>
                <a:cs typeface="Arial Hebrew Scholar" pitchFamily="2" charset="-79"/>
              </a:endParaRPr>
            </a:p>
          </p:txBody>
        </p:sp>
        <p:pic>
          <p:nvPicPr>
            <p:cNvPr id="1026" name="Picture 4" descr="Github Logo - Free social media icons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 flipV="1">
              <a:off x="6071533" y="2197843"/>
              <a:ext cx="166522" cy="1665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35" name="Group 1034"/>
          <p:cNvGrpSpPr/>
          <p:nvPr/>
        </p:nvGrpSpPr>
        <p:grpSpPr>
          <a:xfrm>
            <a:off x="5782945" y="6968490"/>
            <a:ext cx="615315" cy="1052537"/>
            <a:chOff x="5729861" y="6934721"/>
            <a:chExt cx="725093" cy="1224022"/>
          </a:xfrm>
        </p:grpSpPr>
        <p:pic>
          <p:nvPicPr>
            <p:cNvPr id="1029" name="Picture 102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729861" y="6934721"/>
              <a:ext cx="658860" cy="648000"/>
            </a:xfrm>
            <a:prstGeom prst="rect">
              <a:avLst/>
            </a:prstGeom>
          </p:spPr>
        </p:pic>
        <p:grpSp>
          <p:nvGrpSpPr>
            <p:cNvPr id="1031" name="Group 1030"/>
            <p:cNvGrpSpPr/>
            <p:nvPr/>
          </p:nvGrpSpPr>
          <p:grpSpPr>
            <a:xfrm>
              <a:off x="5771688" y="7623361"/>
              <a:ext cx="683266" cy="535382"/>
              <a:chOff x="6071533" y="2191497"/>
              <a:chExt cx="683266" cy="541726"/>
            </a:xfrm>
          </p:grpSpPr>
          <p:sp>
            <p:nvSpPr>
              <p:cNvPr id="1032" name="TextBox 1031"/>
              <p:cNvSpPr txBox="1"/>
              <p:nvPr/>
            </p:nvSpPr>
            <p:spPr>
              <a:xfrm>
                <a:off x="6105590" y="2191497"/>
                <a:ext cx="649209" cy="5417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800" b="1">
                    <a:latin typeface="Arial Hebrew Scholar" pitchFamily="2" charset="-79"/>
                    <a:cs typeface="Arial Hebrew Scholar" pitchFamily="2" charset="-79"/>
                  </a:rPr>
                  <a:t>Github FIT-DNU</a:t>
                </a:r>
                <a:endParaRPr lang="en-US" sz="800" b="1" dirty="0">
                  <a:latin typeface="Arial Hebrew Scholar" pitchFamily="2" charset="-79"/>
                  <a:cs typeface="Arial Hebrew Scholar" pitchFamily="2" charset="-79"/>
                </a:endParaRPr>
              </a:p>
            </p:txBody>
          </p:sp>
          <p:pic>
            <p:nvPicPr>
              <p:cNvPr id="1033" name="Picture 4" descr="Github Logo - Free social media icons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800000" flipV="1">
                <a:off x="6071533" y="2197843"/>
                <a:ext cx="166522" cy="16652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040" y="5342890"/>
            <a:ext cx="3589020" cy="272542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3040" y="8046085"/>
            <a:ext cx="3588385" cy="150939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2404" y="4038599"/>
            <a:ext cx="3619204" cy="114274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3040" y="5234167"/>
            <a:ext cx="3619204" cy="251766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2404" y="7806593"/>
            <a:ext cx="3619203" cy="1910431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68365" y="1313180"/>
            <a:ext cx="650240" cy="64135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95800" y="6891020"/>
            <a:ext cx="722630" cy="71247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92592B3-C632-4CC6-B069-5CE26602A90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31317" y="2729288"/>
            <a:ext cx="2487288" cy="17628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355AB57-2490-484E-AB14-9C3065CD469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83461" y="5077947"/>
            <a:ext cx="2670102" cy="13426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180</Words>
  <Application>Microsoft Office PowerPoint</Application>
  <PresentationFormat>A4 Paper (210x297 mm)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Hebrew Scholar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Thái Khánh Nguyễn</dc:creator>
  <cp:lastModifiedBy>trung kien</cp:lastModifiedBy>
  <cp:revision>109</cp:revision>
  <dcterms:created xsi:type="dcterms:W3CDTF">2023-07-02T07:57:00Z</dcterms:created>
  <dcterms:modified xsi:type="dcterms:W3CDTF">2026-06-04T06:34:50Z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B91172CD5B7040CBA2FB15A1BC72CE71_13</vt:lpwstr>
  </property>
  <property fmtid="{D5CDD505-2E9C-101B-9397-08002B2CF9AE}" pid="3" name="KSOProductBuildVer">
    <vt:lpwstr>1033-12.1.0.26880</vt:lpwstr>
  </property>
</Properties>
</file>